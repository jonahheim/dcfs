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AAED7-8268-3244-A513-DD43621BD952}" v="24" dt="2025-12-04T23:20:54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09"/>
  </p:normalViewPr>
  <p:slideViewPr>
    <p:cSldViewPr snapToGrid="0">
      <p:cViewPr varScale="1">
        <p:scale>
          <a:sx n="151" d="100"/>
          <a:sy n="151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FD06-8EF9-8A77-8D86-5E131567F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45028-6AC3-1F6E-CEF4-EFCCA5859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322DA-2BB5-26E5-6869-A589EE066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204A-4FF7-990C-02A4-78BEF688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CA49A-6C21-F596-6191-4B720ABD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3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AAE36-86FF-C1DD-CF0C-C7B40C81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FE226-29F4-A9DB-8BB1-93C0F5350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5B3F3-A2CE-F4A6-2157-6986D33E3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B971C-5FDF-2A10-B738-1D03387A1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A7744-0543-DB60-D83E-B32132DD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26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5CD5-5EDF-8FA7-8F70-584013AC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11967-1127-C44C-6B44-EBA9CE371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523C1-D181-3E1A-612C-C22E8124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5A68D-7DA8-D96E-E5C9-7847035C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AFB7B-E9E6-E5D4-E66B-BF15A1B0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15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27E1-7B63-7726-D850-80FE206D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E6F33-B944-0AF9-342E-6A9FBBAB2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DD524-5D8B-D844-37B3-2229C2727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8103E-ED94-CE54-B40F-0695F41C8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50AB8-ADCE-99AB-97E9-80DA01E7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89CFA-3C8E-32F8-2BB9-3A8998578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06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FE25-986E-18B4-7989-671F8A397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80479-7F3B-C501-CB2E-3D896D8B8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7B02F-1C76-3ED8-C02A-EC2FFE23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C1FE9-76B3-83D3-721C-F5E517CA1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47230-3674-12C5-803F-4DCB4120D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84680-EF74-4037-B92E-B7C51F713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897020-EF0D-317B-9A72-D5454E46E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6423F-E2CC-3A73-18C3-DB55973A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4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856C6-568F-C967-449B-0C7301CDF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BC90F-6538-9D22-823A-485F734A0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7063F-A44A-741E-1911-9947E351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DF6FC-4F12-161C-D090-02EE417C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1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A35B3-4E9B-C978-4D53-E988CBC0E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022973-7593-45AF-BF03-7E6040BB6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E6E97-B8BE-91C1-0635-7F7621A2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08D2-3B19-DDBB-940F-4BC3F9F68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D62D5-6F5A-FC84-A656-89577B2CB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6FD9F-FABD-AFAA-3C37-2921AFD80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137DD-C89B-B011-6012-79D2ED79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319B3-2AB2-1EDD-321A-600C66E5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89F10-3158-38D2-9403-7A26651F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9EC0-4ADC-6AEB-C632-187FAA8A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CD376-A18D-0A3C-56CB-6695C123D1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1D946-E9D0-985F-7EC9-A8662A496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80EBC-15C1-879B-DF66-2A6A81167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94E51-E18E-DE61-55BE-8A6213C8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D5ED8-04D7-97F3-5635-21AA8EA8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77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5FE9-F3ED-B920-2C6E-AA268175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06A87-B356-CB89-7143-B8926B4B3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214A5-327E-5D79-4539-0476392A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B0948-1C09-4404-8797-A0D18798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408DA-96DE-447E-F747-C78AAF06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75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30BEC-31FB-BDE3-265D-EE6E5140B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C8669-3FA6-4960-C35B-6B95A43C4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9BA91-B50A-745E-F9AC-2B3FC0224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8EFD2-775E-5894-17BD-ED7D2E61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5422B-926F-1EED-940A-0DFC6A5C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8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D2B859-E53C-5B41-5FA7-A1507015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82718-1529-5674-BD8D-1076B5E9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AB593-39B2-2B36-0B93-77998CF58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C4295-3C3B-084E-A0B3-0FC720BEF6B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EF205-9F62-06C2-F987-AC4C60F95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C2CF0-30CF-67DC-DD15-DDCD17E28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92DCB5-6CB4-AC46-A387-02BBBBAD2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8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236F-CFF1-8086-60C7-097E30898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37283"/>
            <a:ext cx="10515600" cy="1325563"/>
          </a:xfrm>
        </p:spPr>
        <p:txBody>
          <a:bodyPr/>
          <a:lstStyle/>
          <a:p>
            <a:r>
              <a:rPr lang="en-US" dirty="0"/>
              <a:t>Project Happy Hour: DCF Valuation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6F229D-1460-58F9-9B2A-9FC8B5D2A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3233621"/>
              </p:ext>
            </p:extLst>
          </p:nvPr>
        </p:nvGraphicFramePr>
        <p:xfrm>
          <a:off x="7126626" y="4095655"/>
          <a:ext cx="4015508" cy="23508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3644">
                  <a:extLst>
                    <a:ext uri="{9D8B030D-6E8A-4147-A177-3AD203B41FA5}">
                      <a16:colId xmlns:a16="http://schemas.microsoft.com/office/drawing/2014/main" val="841591721"/>
                    </a:ext>
                  </a:extLst>
                </a:gridCol>
                <a:gridCol w="573644">
                  <a:extLst>
                    <a:ext uri="{9D8B030D-6E8A-4147-A177-3AD203B41FA5}">
                      <a16:colId xmlns:a16="http://schemas.microsoft.com/office/drawing/2014/main" val="2634822764"/>
                    </a:ext>
                  </a:extLst>
                </a:gridCol>
                <a:gridCol w="573644">
                  <a:extLst>
                    <a:ext uri="{9D8B030D-6E8A-4147-A177-3AD203B41FA5}">
                      <a16:colId xmlns:a16="http://schemas.microsoft.com/office/drawing/2014/main" val="1061379355"/>
                    </a:ext>
                  </a:extLst>
                </a:gridCol>
                <a:gridCol w="573644">
                  <a:extLst>
                    <a:ext uri="{9D8B030D-6E8A-4147-A177-3AD203B41FA5}">
                      <a16:colId xmlns:a16="http://schemas.microsoft.com/office/drawing/2014/main" val="2162754886"/>
                    </a:ext>
                  </a:extLst>
                </a:gridCol>
                <a:gridCol w="573644">
                  <a:extLst>
                    <a:ext uri="{9D8B030D-6E8A-4147-A177-3AD203B41FA5}">
                      <a16:colId xmlns:a16="http://schemas.microsoft.com/office/drawing/2014/main" val="2463235587"/>
                    </a:ext>
                  </a:extLst>
                </a:gridCol>
                <a:gridCol w="573644">
                  <a:extLst>
                    <a:ext uri="{9D8B030D-6E8A-4147-A177-3AD203B41FA5}">
                      <a16:colId xmlns:a16="http://schemas.microsoft.com/office/drawing/2014/main" val="2297577581"/>
                    </a:ext>
                  </a:extLst>
                </a:gridCol>
                <a:gridCol w="573644">
                  <a:extLst>
                    <a:ext uri="{9D8B030D-6E8A-4147-A177-3AD203B41FA5}">
                      <a16:colId xmlns:a16="http://schemas.microsoft.com/office/drawing/2014/main" val="1774023465"/>
                    </a:ext>
                  </a:extLst>
                </a:gridCol>
              </a:tblGrid>
              <a:tr h="292289">
                <a:tc gridSpan="5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u="none" strike="noStrike" dirty="0" err="1">
                          <a:effectLst/>
                        </a:rPr>
                        <a:t>Sensitising</a:t>
                      </a:r>
                      <a:r>
                        <a:rPr lang="en-US" sz="1000" b="1" u="none" strike="noStrike" dirty="0">
                          <a:effectLst/>
                        </a:rPr>
                        <a:t> firm value ($m) and implied offer price to WACC and TGR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91779894"/>
                  </a:ext>
                </a:extLst>
              </a:tr>
              <a:tr h="29228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Perpetuity Growth Rate (%)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850027"/>
                  </a:ext>
                </a:extLst>
              </a:tr>
              <a:tr h="292289">
                <a:tc row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WACC (%)</a:t>
                      </a:r>
                      <a:endParaRPr lang="en-US" sz="10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vert="vert27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0.00% 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0.25% 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0.50% 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0.75% 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1.00% 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376382"/>
                  </a:ext>
                </a:extLst>
              </a:tr>
              <a:tr h="2922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7.5% 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883 / 401c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900 / 410c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918 / 419c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938 / 429c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959 / 439c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39810737"/>
                  </a:ext>
                </a:extLst>
              </a:tr>
              <a:tr h="2922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8.0% 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825 / 372c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839 / 379c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854 / 387c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871 / 395c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888 / 404c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7836270"/>
                  </a:ext>
                </a:extLst>
              </a:tr>
              <a:tr h="2922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8.5% 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774 / 346c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786 / 352c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799 / 359c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812 / 366c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827 / 373c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64782152"/>
                  </a:ext>
                </a:extLst>
              </a:tr>
              <a:tr h="2922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9.0% 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728 / 323c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738 / 329c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749 / 334c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761 / 340c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773 / 346c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5850618"/>
                  </a:ext>
                </a:extLst>
              </a:tr>
              <a:tr h="2922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9.5% </a:t>
                      </a:r>
                      <a:endParaRPr lang="en-US" sz="8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687 / 303c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696 / 307c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706 / 312c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716 / 317c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726 / 322c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90491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F5B51A-0367-D93E-76F2-2A6F1B268F71}"/>
              </a:ext>
            </a:extLst>
          </p:cNvPr>
          <p:cNvSpPr txBox="1"/>
          <p:nvPr/>
        </p:nvSpPr>
        <p:spPr>
          <a:xfrm>
            <a:off x="1209964" y="22629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500162B-C4F7-B556-33A1-4103C5C45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770760"/>
              </p:ext>
            </p:extLst>
          </p:nvPr>
        </p:nvGraphicFramePr>
        <p:xfrm>
          <a:off x="431798" y="1837266"/>
          <a:ext cx="3632202" cy="1732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2204">
                  <a:extLst>
                    <a:ext uri="{9D8B030D-6E8A-4147-A177-3AD203B41FA5}">
                      <a16:colId xmlns:a16="http://schemas.microsoft.com/office/drawing/2014/main" val="144522717"/>
                    </a:ext>
                  </a:extLst>
                </a:gridCol>
                <a:gridCol w="802204">
                  <a:extLst>
                    <a:ext uri="{9D8B030D-6E8A-4147-A177-3AD203B41FA5}">
                      <a16:colId xmlns:a16="http://schemas.microsoft.com/office/drawing/2014/main" val="1375597778"/>
                    </a:ext>
                  </a:extLst>
                </a:gridCol>
                <a:gridCol w="802204">
                  <a:extLst>
                    <a:ext uri="{9D8B030D-6E8A-4147-A177-3AD203B41FA5}">
                      <a16:colId xmlns:a16="http://schemas.microsoft.com/office/drawing/2014/main" val="512607643"/>
                    </a:ext>
                  </a:extLst>
                </a:gridCol>
                <a:gridCol w="612795">
                  <a:extLst>
                    <a:ext uri="{9D8B030D-6E8A-4147-A177-3AD203B41FA5}">
                      <a16:colId xmlns:a16="http://schemas.microsoft.com/office/drawing/2014/main" val="525943691"/>
                    </a:ext>
                  </a:extLst>
                </a:gridCol>
                <a:gridCol w="612795">
                  <a:extLst>
                    <a:ext uri="{9D8B030D-6E8A-4147-A177-3AD203B41FA5}">
                      <a16:colId xmlns:a16="http://schemas.microsoft.com/office/drawing/2014/main" val="1016368097"/>
                    </a:ext>
                  </a:extLst>
                </a:gridCol>
              </a:tblGrid>
              <a:tr h="138962">
                <a:tc rowSpan="2" grid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Value Based on 8.5% WACC &amp; 0.5% TGR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Amount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% of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59257180"/>
                  </a:ext>
                </a:extLst>
              </a:tr>
              <a:tr h="197472"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($m)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NPV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0153017"/>
                  </a:ext>
                </a:extLst>
              </a:tr>
              <a:tr h="19747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Present Value of Cashflows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406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50.8%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80668746"/>
                  </a:ext>
                </a:extLst>
              </a:tr>
              <a:tr h="19747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PV of Terminal Value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393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49.2%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95237778"/>
                  </a:ext>
                </a:extLst>
              </a:tr>
              <a:tr h="1974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Implied Firm NPV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799 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100.0% 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3865218"/>
                  </a:ext>
                </a:extLst>
              </a:tr>
              <a:tr h="19747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Net debt &amp; adjustments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(85)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06233122"/>
                  </a:ext>
                </a:extLst>
              </a:tr>
              <a:tr h="19747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Implied equity value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714 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14314065"/>
                  </a:ext>
                </a:extLst>
              </a:tr>
              <a:tr h="19747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Implied share price ($c)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359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4440450"/>
                  </a:ext>
                </a:extLst>
              </a:tr>
              <a:tr h="197472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% premium to current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5725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117.5% </a:t>
                      </a:r>
                      <a:endParaRPr lang="en-US" sz="800" b="0" i="1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504889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706B218-3699-C50B-447E-40CEB634A317}"/>
              </a:ext>
            </a:extLst>
          </p:cNvPr>
          <p:cNvSpPr txBox="1"/>
          <p:nvPr/>
        </p:nvSpPr>
        <p:spPr>
          <a:xfrm>
            <a:off x="1049866" y="4095655"/>
            <a:ext cx="42418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Key Assumptions </a:t>
            </a:r>
          </a:p>
          <a:p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/>
              <a:t>Valuation Date: 31 March 2020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/>
              <a:t>WACC 8.5%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/>
              <a:t>Terminal Growth Rate: 0.5%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/>
              <a:t>Tax Rate: 19.0%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dirty="0"/>
              <a:t>Forecast Period 5 years (FY21-FY25) 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E8A1FCF1-3095-16CD-9579-DA0A66A3AFC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00335" y="1426643"/>
            <a:ext cx="4571997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solidFill>
                  <a:schemeClr val="accent1"/>
                </a:solidFill>
                <a:latin typeface="Arial" panose="020B0604020202020204" pitchFamily="34" charset="0"/>
              </a:rPr>
              <a:t>Executive Summary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Upside: The DCF valuation implies a share price of 384c, representing a 133% upside to the current share price of 165c.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Methodology: Valuation is based on management forecasts for FY21–FY24, with a conservative extrapolation to FY25 (assuming 2% revenue growth and stable margins).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Valuation: Sensitivity analysis indicates the valuation is highly robust, remaining above 350c even under more conservative WACC (9.0%) and terminal growth (0.25%) assumptions.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A1B4A2-D972-1E79-4130-01A87E805723}"/>
              </a:ext>
            </a:extLst>
          </p:cNvPr>
          <p:cNvSpPr/>
          <p:nvPr/>
        </p:nvSpPr>
        <p:spPr>
          <a:xfrm>
            <a:off x="0" y="0"/>
            <a:ext cx="12192000" cy="14266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Happy Hour: DCF Valuation Summary</a:t>
            </a:r>
          </a:p>
        </p:txBody>
      </p:sp>
    </p:spTree>
    <p:extLst>
      <p:ext uri="{BB962C8B-B14F-4D97-AF65-F5344CB8AC3E}">
        <p14:creationId xmlns:p14="http://schemas.microsoft.com/office/powerpoint/2010/main" val="129879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315</Words>
  <Application>Microsoft Macintosh PowerPoint</Application>
  <PresentationFormat>Widescreen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Project Happy Hour: DCF Valuation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Heim,Jonah</dc:creator>
  <cp:lastModifiedBy>Heim,Jonah</cp:lastModifiedBy>
  <cp:revision>2</cp:revision>
  <dcterms:created xsi:type="dcterms:W3CDTF">2025-12-04T22:50:05Z</dcterms:created>
  <dcterms:modified xsi:type="dcterms:W3CDTF">2025-12-04T23:24:02Z</dcterms:modified>
</cp:coreProperties>
</file>